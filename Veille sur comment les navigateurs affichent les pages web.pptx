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58" d="100"/>
          <a:sy n="58" d="100"/>
        </p:scale>
        <p:origin x="68" y="4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fr-FR"/>
              <a:t>Modifiez le style du titre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fr-FR"/>
              <a:t>Modifiez le style des sous-titres du masque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endParaRPr lang="fr-F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1">
              <a:rPr lang="en-US" smtClean="0"/>
              <a:t>10/21/2026</a:t>
            </a:fld>
            <a:endParaRPr lang="en-US" dirty="0"/>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1CA008E4-F9BA-4A02-91BE-6B3A997D9259}" type="slidenum">
              <a:rPr lang="fr-FR" smtClean="0"/>
              <a:t>‹N°›</a:t>
            </a:fld>
            <a:endParaRPr lang="fr-FR"/>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314617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fr-FR"/>
              <a:t>Modifiez le style du titre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endParaRPr lang="fr-F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9DA31481-1CEB-49B0-B910-CE3A8791A7F9}" type="datetimeFigureOut">
              <a:rPr lang="fr-FR" smtClean="0"/>
              <a:t>21/10/2026</a:t>
            </a:fld>
            <a:endParaRPr lang="fr-FR"/>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1CA008E4-F9BA-4A02-91BE-6B3A997D9259}" type="slidenum">
              <a:rPr lang="fr-FR" smtClean="0"/>
              <a:t>‹N°›</a:t>
            </a:fld>
            <a:endParaRPr lang="fr-FR"/>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4400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fr-FR"/>
              <a:t>Modifiez le style du titre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fr-FR"/>
              <a:t>Modifiez le style des sous-titres du masque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10/21/2026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‹N°›</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80521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fr-FR"/>
              <a:t>Modifiez le style du titre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fr-FR"/>
              <a:t>Modifiez le style des sous-titres du masque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endParaRPr lang="fr-F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9DA31481-1CEB-49B0-B910-CE3A8791A7F9}" type="datetimeFigureOut">
              <a:rPr lang="fr-FR" smtClean="0"/>
              <a:t>21/10/2026</a:t>
            </a:fld>
            <a:endParaRPr lang="fr-FR"/>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1CA008E4-F9BA-4A02-91BE-6B3A997D9259}" type="slidenum">
              <a:rPr lang="fr-FR" smtClean="0"/>
              <a:t>‹N°›</a:t>
            </a:fld>
            <a:endParaRPr lang="fr-FR"/>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50481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re de section">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fr-FR"/>
              <a:t>Modifiez le style du titre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10/21/2026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‹N°›</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0608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fr-FR"/>
              <a:t>Modifiez le style du titre</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endParaRPr lang="fr-F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9DA31481-1CEB-49B0-B910-CE3A8791A7F9}" type="datetimeFigureOut">
              <a:rPr lang="fr-FR" smtClean="0"/>
              <a:t>21/10/2026</a:t>
            </a:fld>
            <a:endParaRPr lang="fr-FR"/>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1CA008E4-F9BA-4A02-91BE-6B3A997D9259}" type="slidenum">
              <a:rPr lang="fr-FR" smtClean="0"/>
              <a:t>‹N°›</a:t>
            </a:fld>
            <a:endParaRPr lang="fr-FR"/>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590765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fr-FR"/>
              <a:t>Modifiez le style du titre</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endParaRPr lang="fr-F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DA31481-1CEB-49B0-B910-CE3A8791A7F9}" type="datetimeFigureOut">
              <a:rPr lang="fr-FR" smtClean="0"/>
              <a:t>21/10/2026</a:t>
            </a:fld>
            <a:endParaRPr lang="fr-FR"/>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1CA008E4-F9BA-4A02-91BE-6B3A997D9259}" type="slidenum">
              <a:rPr lang="fr-FR" smtClean="0"/>
              <a:t>‹N°›</a:t>
            </a:fld>
            <a:endParaRPr lang="fr-FR"/>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738467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fr-FR"/>
              <a:t>Modifiez le style du titre</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endParaRPr lang="fr-F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9DA31481-1CEB-49B0-B910-CE3A8791A7F9}" type="datetimeFigureOut">
              <a:rPr lang="fr-FR" smtClean="0"/>
              <a:t>21/10/2026</a:t>
            </a:fld>
            <a:endParaRPr lang="fr-FR"/>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1CA008E4-F9BA-4A02-91BE-6B3A997D9259}" type="slidenum">
              <a:rPr lang="fr-FR" smtClean="0"/>
              <a:t>‹N°›</a:t>
            </a:fld>
            <a:endParaRPr lang="fr-FR"/>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4990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fr-FR"/>
              <a:t>Modifiez le style du titre</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endParaRPr lang="fr-F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9DA31481-1CEB-49B0-B910-CE3A8791A7F9}" type="datetimeFigureOut">
              <a:rPr lang="fr-FR" smtClean="0"/>
              <a:t>21/10/2026</a:t>
            </a:fld>
            <a:endParaRPr lang="fr-FR"/>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1CA008E4-F9BA-4A02-91BE-6B3A997D9259}" type="slidenum">
              <a:rPr lang="fr-FR" smtClean="0"/>
              <a:t>‹N°›</a:t>
            </a:fld>
            <a:endParaRPr lang="fr-FR"/>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4841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fr-FR"/>
              <a:t>Modifiez le style du titre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endParaRPr lang="fr-F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9DA31481-1CEB-49B0-B910-CE3A8791A7F9}" type="datetimeFigureOut">
              <a:rPr lang="fr-FR" smtClean="0"/>
              <a:t>21/10/2026</a:t>
            </a:fld>
            <a:endParaRPr lang="fr-FR"/>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1CA008E4-F9BA-4A02-91BE-6B3A997D9259}" type="slidenum">
              <a:rPr lang="fr-FR" smtClean="0"/>
              <a:t>‹N°›</a:t>
            </a:fld>
            <a:endParaRPr lang="fr-F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6410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fr-FR"/>
              <a:t>Modifiez le style du titre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endParaRPr lang="fr-F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9DA31481-1CEB-49B0-B910-CE3A8791A7F9}" type="datetimeFigureOut">
              <a:rPr lang="fr-FR" smtClean="0"/>
              <a:t>21/10/2026</a:t>
            </a:fld>
            <a:endParaRPr lang="fr-FR"/>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1CA008E4-F9BA-4A02-91BE-6B3A997D9259}" type="slidenum">
              <a:rPr lang="fr-FR" smtClean="0"/>
              <a:t>‹N°›</a:t>
            </a:fld>
            <a:endParaRPr lang="fr-F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5270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fr-FR"/>
              <a:t>Modifiez le style du titre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endParaRPr lang="fr-F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9DA31481-1CEB-49B0-B910-CE3A8791A7F9}" type="datetimeFigureOut">
              <a:rPr lang="fr-FR" smtClean="0"/>
              <a:t>21/10/2026</a:t>
            </a:fld>
            <a:endParaRPr lang="fr-FR"/>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1CA008E4-F9BA-4A02-91BE-6B3A997D9259}" type="slidenum">
              <a:rPr lang="fr-FR" smtClean="0"/>
              <a:t>‹N°›</a:t>
            </a:fld>
            <a:endParaRPr lang="fr-F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117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fr-FR"/>
              <a:t>Modifiez le style du titre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endParaRPr lang="fr-F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9DA31481-1CEB-49B0-B910-CE3A8791A7F9}" type="datetimeFigureOut">
              <a:rPr lang="fr-FR" smtClean="0"/>
              <a:t>21/10/2026</a:t>
            </a:fld>
            <a:endParaRPr lang="fr-FR"/>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1CA008E4-F9BA-4A02-91BE-6B3A997D9259}" type="slidenum">
              <a:rPr lang="fr-FR" smtClean="0"/>
              <a:t>‹N°›</a:t>
            </a:fld>
            <a:endParaRPr lang="fr-F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86835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fr-FR"/>
              <a:t>Modifiez le style du titre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endParaRPr lang="fr-F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DA31481-1CEB-49B0-B910-CE3A8791A7F9}" type="datetimeFigureOut">
              <a:rPr lang="fr-FR" smtClean="0"/>
              <a:t>21/10/2026</a:t>
            </a:fld>
            <a:endParaRPr lang="fr-FR"/>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1CA008E4-F9BA-4A02-91BE-6B3A997D9259}" type="slidenum">
              <a:rPr lang="fr-FR" smtClean="0"/>
              <a:t>‹N°›</a:t>
            </a:fld>
            <a:endParaRPr lang="fr-F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37005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fr-FR"/>
              <a:t>Modifiez le style du titre</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endParaRPr lang="fr-F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9DA31481-1CEB-49B0-B910-CE3A8791A7F9}" type="datetimeFigureOut">
              <a:rPr lang="fr-FR" smtClean="0"/>
              <a:t>21/10/2026</a:t>
            </a:fld>
            <a:endParaRPr lang="fr-FR"/>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1CA008E4-F9BA-4A02-91BE-6B3A997D9259}" type="slidenum">
              <a:rPr lang="fr-FR" smtClean="0"/>
              <a:t>‹N°›</a:t>
            </a:fld>
            <a:endParaRPr lang="fr-F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1054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fr-FR"/>
              <a:t>Modifiez le style du titre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endParaRPr lang="fr-F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9DA31481-1CEB-49B0-B910-CE3A8791A7F9}" type="datetimeFigureOut">
              <a:rPr lang="fr-FR" smtClean="0"/>
              <a:t>21/10/2026</a:t>
            </a:fld>
            <a:endParaRPr lang="fr-FR"/>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1CA008E4-F9BA-4A02-91BE-6B3A997D9259}" type="slidenum">
              <a:rPr lang="fr-FR" smtClean="0"/>
              <a:t>‹N°›</a:t>
            </a:fld>
            <a:endParaRPr lang="fr-FR"/>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53865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fr-FR"/>
              <a:t>Modifiez le style du titre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endParaRPr lang="fr-F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9DA31481-1CEB-49B0-B910-CE3A8791A7F9}" type="datetimeFigureOut">
              <a:rPr lang="fr-FR" smtClean="0"/>
              <a:t>21/10/2026</a:t>
            </a:fld>
            <a:endParaRPr lang="fr-FR"/>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1CA008E4-F9BA-4A02-91BE-6B3A997D9259}" type="slidenum">
              <a:rPr lang="fr-FR" smtClean="0"/>
              <a:t>‹N°›</a:t>
            </a:fld>
            <a:endParaRPr lang="fr-F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70377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fr-FR"/>
              <a:t>Modifiez le style du titre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fr-F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9DA31481-1CEB-49B0-B910-CE3A8791A7F9}" type="datetimeFigureOut">
              <a:rPr lang="fr-FR" smtClean="0"/>
              <a:t>21/10/2026</a:t>
            </a:fld>
            <a:endParaRPr lang="fr-FR"/>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1CA008E4-F9BA-4A02-91BE-6B3A997D9259}" type="slidenum">
              <a:rPr lang="fr-FR" smtClean="0"/>
              <a:t>‹N°›</a:t>
            </a:fld>
            <a:endParaRPr lang="fr-F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84918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fr-FR"/>
              <a:t>Modifiez le style du titre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endParaRPr lang="fr-F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9DA31481-1CEB-49B0-B910-CE3A8791A7F9}" type="datetimeFigureOut">
              <a:rPr lang="fr-FR" smtClean="0"/>
              <a:t>21/10/2026</a:t>
            </a:fld>
            <a:endParaRPr lang="fr-FR"/>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1CA008E4-F9BA-4A02-91BE-6B3A997D9259}" type="slidenum">
              <a:rPr lang="fr-FR" smtClean="0"/>
              <a:t>‹N°›</a:t>
            </a:fld>
            <a:endParaRPr lang="fr-FR"/>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964255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fr-FR"/>
              <a:t>Modifiez le style du titre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endParaRPr lang="fr-F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9DA31481-1CEB-49B0-B910-CE3A8791A7F9}" type="datetimeFigureOut">
              <a:rPr lang="fr-FR" smtClean="0"/>
              <a:t>21/10/2026</a:t>
            </a:fld>
            <a:endParaRPr lang="fr-F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1CA008E4-F9BA-4A02-91BE-6B3A997D9259}" type="slidenum">
              <a:rPr lang="fr-FR" smtClean="0"/>
              <a:t>‹N°›</a:t>
            </a:fld>
            <a:endParaRPr lang="fr-FR"/>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2853780"/>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endParaRPr lang="fr-F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9DA31481-1CEB-49B0-B910-CE3A8791A7F9}" type="datetimeFigureOut">
              <a:rPr lang="fr-FR" smtClean="0"/>
              <a:t>21/10/2026</a:t>
            </a:fld>
            <a:endParaRPr lang="fr-FR"/>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1CA008E4-F9BA-4A02-91BE-6B3A997D9259}" type="slidenum">
              <a:rPr lang="fr-FR" smtClean="0"/>
              <a:t>‹N°›</a:t>
            </a:fld>
            <a:endParaRPr lang="fr-FR"/>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8163805"/>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Deux contenu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fr-FR"/>
              <a:t>Modifiez le style du titre</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endParaRPr lang="fr-F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DA31481-1CEB-49B0-B910-CE3A8791A7F9}" type="datetimeFigureOut">
              <a:rPr lang="fr-FR" smtClean="0"/>
              <a:t>21/10/2026</a:t>
            </a:fld>
            <a:endParaRPr lang="fr-FR"/>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1CA008E4-F9BA-4A02-91BE-6B3A997D9259}" type="slidenum">
              <a:rPr lang="fr-FR" smtClean="0"/>
              <a:t>‹N°›</a:t>
            </a:fld>
            <a:endParaRPr lang="fr-FR"/>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59587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fr-FR"/>
              <a:t>Modifiez le style du titre</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lang="fr-F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9DA31481-1CEB-49B0-B910-CE3A8791A7F9}" type="datetimeFigureOut">
              <a:rPr lang="fr-FR" smtClean="0"/>
              <a:t>21/10/2026</a:t>
            </a:fld>
            <a:endParaRPr lang="fr-FR"/>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1CA008E4-F9BA-4A02-91BE-6B3A997D9259}" type="slidenum">
              <a:rPr lang="fr-FR" smtClean="0"/>
              <a:t>‹N°›</a:t>
            </a:fld>
            <a:endParaRPr lang="fr-FR"/>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41177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fr-FR"/>
              <a:t>Modifiez le style du titre</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endParaRPr lang="fr-F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9DA31481-1CEB-49B0-B910-CE3A8791A7F9}" type="datetimeFigureOut">
              <a:rPr lang="fr-FR" smtClean="0"/>
              <a:t>21/10/2026</a:t>
            </a:fld>
            <a:endParaRPr lang="fr-FR"/>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1CA008E4-F9BA-4A02-91BE-6B3A997D9259}" type="slidenum">
              <a:rPr lang="fr-FR" smtClean="0"/>
              <a:t>‹N°›</a:t>
            </a:fld>
            <a:endParaRPr lang="fr-FR"/>
          </a:p>
        </p:txBody>
      </p:sp>
    </p:spTree>
    <p:extLst>
      <p:ext uri="{BB962C8B-B14F-4D97-AF65-F5344CB8AC3E}">
        <p14:creationId xmlns:p14="http://schemas.microsoft.com/office/powerpoint/2010/main" val="25680291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endParaRPr lang="fr-F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9DA31481-1CEB-49B0-B910-CE3A8791A7F9}" type="datetimeFigureOut">
              <a:rPr lang="fr-FR" smtClean="0"/>
              <a:t>21/10/2026</a:t>
            </a:fld>
            <a:endParaRPr lang="fr-FR"/>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1CA008E4-F9BA-4A02-91BE-6B3A997D9259}" type="slidenum">
              <a:rPr lang="fr-FR" smtClean="0"/>
              <a:t>‹N°›</a:t>
            </a:fld>
            <a:endParaRPr lang="fr-FR"/>
          </a:p>
        </p:txBody>
      </p:sp>
    </p:spTree>
    <p:extLst>
      <p:ext uri="{BB962C8B-B14F-4D97-AF65-F5344CB8AC3E}">
        <p14:creationId xmlns:p14="http://schemas.microsoft.com/office/powerpoint/2010/main" val="2992501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fr-FR"/>
              <a:t>Modifiez le style du titre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endParaRPr lang="fr-F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9DA31481-1CEB-49B0-B910-CE3A8791A7F9}" type="datetimeFigureOut">
              <a:rPr lang="fr-FR" smtClean="0"/>
              <a:t>21/10/2026</a:t>
            </a:fld>
            <a:endParaRPr lang="fr-FR"/>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1CA008E4-F9BA-4A02-91BE-6B3A997D9259}" type="slidenum">
              <a:rPr lang="fr-FR" smtClean="0"/>
              <a:t>‹N°›</a:t>
            </a:fld>
            <a:endParaRPr lang="fr-F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289896501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fr-FR"/>
              <a:t>Modifiez le style du titre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fr-F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9DA31481-1CEB-49B0-B910-CE3A8791A7F9}" type="datetimeFigureOut">
              <a:rPr lang="fr-FR" smtClean="0"/>
              <a:t>21/10/2026</a:t>
            </a:fld>
            <a:endParaRPr lang="fr-FR"/>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1CA008E4-F9BA-4A02-91BE-6B3A997D9259}" type="slidenum">
              <a:rPr lang="fr-FR" smtClean="0"/>
              <a:t>‹N°›</a:t>
            </a:fld>
            <a:endParaRPr lang="fr-FR"/>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248490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endParaRPr lang="fr-F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9DA31481-1CEB-49B0-B910-CE3A8791A7F9}" type="datetimeFigureOut">
              <a:rPr lang="fr-FR" smtClean="0"/>
              <a:t>21/10/2026</a:t>
            </a:fld>
            <a:endParaRPr lang="fr-FR"/>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1CA008E4-F9BA-4A02-91BE-6B3A997D9259}" type="slidenum">
              <a:rPr lang="fr-FR" smtClean="0"/>
              <a:t>‹N°›</a:t>
            </a:fld>
            <a:endParaRPr lang="fr-FR"/>
          </a:p>
        </p:txBody>
      </p:sp>
      <p:sp>
        <p:nvSpPr>
          <p:cNvPr id="8" name="TextBox 7">
            <a:extLst>
              <a:ext uri="{FF2B5EF4-FFF2-40B4-BE49-F238E27FC236}">
                <a16:creationId xmlns:a16="http://schemas.microsoft.com/office/drawing/2014/main" id="{5F143C14-E680-3360-0E4D-DA502AF50E85}"/>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1527610037"/>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 id="2147483866" r:id="rId6"/>
    <p:sldLayoutId id="2147483867" r:id="rId7"/>
    <p:sldLayoutId id="2147483868" r:id="rId8"/>
    <p:sldLayoutId id="2147483869" r:id="rId9"/>
    <p:sldLayoutId id="2147483870" r:id="rId10"/>
    <p:sldLayoutId id="2147483871" r:id="rId11"/>
    <p:sldLayoutId id="2147483872" r:id="rId12"/>
    <p:sldLayoutId id="2147483873" r:id="rId13"/>
    <p:sldLayoutId id="2147483874" r:id="rId14"/>
    <p:sldLayoutId id="2147483875" r:id="rId15"/>
    <p:sldLayoutId id="2147483876" r:id="rId16"/>
    <p:sldLayoutId id="2147483877" r:id="rId17"/>
    <p:sldLayoutId id="2147483878" r:id="rId18"/>
    <p:sldLayoutId id="2147483879" r:id="rId19"/>
    <p:sldLayoutId id="2147483880" r:id="rId20"/>
    <p:sldLayoutId id="2147483881" r:id="rId21"/>
    <p:sldLayoutId id="2147483882" r:id="rId22"/>
    <p:sldLayoutId id="2147483883" r:id="rId23"/>
    <p:sldLayoutId id="2147483884" r:id="rId24"/>
    <p:sldLayoutId id="2147483885" r:id="rId25"/>
    <p:sldLayoutId id="2147483886" r:id="rId26"/>
    <p:sldLayoutId id="2147483887" r:id="rId27"/>
  </p:sldLayoutIdLst>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BC8A89-64D0-554C-3BB8-30E302230B3E}"/>
              </a:ext>
            </a:extLst>
          </p:cNvPr>
          <p:cNvSpPr>
            <a:spLocks noGrp="1"/>
          </p:cNvSpPr>
          <p:nvPr>
            <p:ph type="ctrTitle"/>
          </p:nvPr>
        </p:nvSpPr>
        <p:spPr>
          <a:xfrm>
            <a:off x="2173995" y="868973"/>
            <a:ext cx="8666602" cy="3703025"/>
          </a:xfrm>
        </p:spPr>
        <p:txBody>
          <a:bodyPr>
            <a:normAutofit fontScale="90000"/>
          </a:bodyPr>
          <a:lstStyle/>
          <a:p>
            <a:r>
              <a:rPr lang="fr-FR" b="1" dirty="0">
                <a:solidFill>
                  <a:schemeClr val="tx1"/>
                </a:solidFill>
              </a:rPr>
              <a:t>Veille: Comment les navigateurs affichent les pages web (rendu HTML, CSS, JS).</a:t>
            </a:r>
          </a:p>
        </p:txBody>
      </p:sp>
    </p:spTree>
    <p:extLst>
      <p:ext uri="{BB962C8B-B14F-4D97-AF65-F5344CB8AC3E}">
        <p14:creationId xmlns:p14="http://schemas.microsoft.com/office/powerpoint/2010/main" val="1057632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C51907E4-CE79-79BB-92D1-02390C7C1BD3}"/>
              </a:ext>
            </a:extLst>
          </p:cNvPr>
          <p:cNvSpPr>
            <a:spLocks noGrp="1"/>
          </p:cNvSpPr>
          <p:nvPr>
            <p:ph type="ctrTitle"/>
          </p:nvPr>
        </p:nvSpPr>
        <p:spPr>
          <a:xfrm>
            <a:off x="1421176" y="407950"/>
            <a:ext cx="9022814" cy="627635"/>
          </a:xfrm>
        </p:spPr>
        <p:txBody>
          <a:bodyPr>
            <a:normAutofit fontScale="90000"/>
          </a:bodyPr>
          <a:lstStyle/>
          <a:p>
            <a:r>
              <a:rPr lang="fr-FR" sz="4400" dirty="0">
                <a:solidFill>
                  <a:schemeClr val="tx1"/>
                </a:solidFill>
              </a:rPr>
              <a:t>1. </a:t>
            </a:r>
            <a:r>
              <a:rPr lang="fr-FR" sz="5000" dirty="0">
                <a:solidFill>
                  <a:schemeClr val="tx1"/>
                </a:solidFill>
              </a:rPr>
              <a:t>Comment le navigateur affiche une page web</a:t>
            </a:r>
          </a:p>
        </p:txBody>
      </p:sp>
      <p:sp>
        <p:nvSpPr>
          <p:cNvPr id="5" name="ZoneTexte 4">
            <a:extLst>
              <a:ext uri="{FF2B5EF4-FFF2-40B4-BE49-F238E27FC236}">
                <a16:creationId xmlns:a16="http://schemas.microsoft.com/office/drawing/2014/main" id="{55E08E6A-13CC-2B38-663D-E9056F519573}"/>
              </a:ext>
            </a:extLst>
          </p:cNvPr>
          <p:cNvSpPr txBox="1"/>
          <p:nvPr/>
        </p:nvSpPr>
        <p:spPr>
          <a:xfrm>
            <a:off x="1784732" y="1663548"/>
            <a:ext cx="7227064" cy="3046988"/>
          </a:xfrm>
          <a:prstGeom prst="rect">
            <a:avLst/>
          </a:prstGeom>
          <a:noFill/>
        </p:spPr>
        <p:txBody>
          <a:bodyPr wrap="square">
            <a:spAutoFit/>
          </a:bodyPr>
          <a:lstStyle/>
          <a:p>
            <a:pPr marL="342900" lvl="0" indent="-342900">
              <a:buFont typeface="Arial" panose="020B0604020202020204" pitchFamily="34" charset="0"/>
              <a:buChar char="•"/>
            </a:pPr>
            <a:r>
              <a:rPr lang="fr-FR" sz="3200" b="1" dirty="0"/>
              <a:t>HTML : structure et contenu</a:t>
            </a:r>
          </a:p>
          <a:p>
            <a:pPr marL="342900" lvl="0" indent="-342900">
              <a:buFont typeface="Arial" panose="020B0604020202020204" pitchFamily="34" charset="0"/>
              <a:buChar char="•"/>
            </a:pPr>
            <a:r>
              <a:rPr lang="fr-FR" sz="3200" b="1" dirty="0"/>
              <a:t>CSS : apparence et disposition</a:t>
            </a:r>
          </a:p>
          <a:p>
            <a:pPr marL="342900" lvl="0" indent="-342900">
              <a:buFont typeface="Arial" panose="020B0604020202020204" pitchFamily="34" charset="0"/>
              <a:buChar char="•"/>
            </a:pPr>
            <a:r>
              <a:rPr lang="fr-FR" sz="3200" b="1" dirty="0"/>
              <a:t>JavaScript : interactions et mises à jour</a:t>
            </a:r>
          </a:p>
          <a:p>
            <a:pPr marL="342900" lvl="0" indent="-342900">
              <a:buFont typeface="Arial" panose="020B0604020202020204" pitchFamily="34" charset="0"/>
              <a:buChar char="•"/>
            </a:pPr>
            <a:r>
              <a:rPr lang="fr-FR" sz="3200" b="1" dirty="0"/>
              <a:t>Le navigateur assemble ces éléments et affiche la page</a:t>
            </a:r>
          </a:p>
        </p:txBody>
      </p:sp>
    </p:spTree>
    <p:extLst>
      <p:ext uri="{BB962C8B-B14F-4D97-AF65-F5344CB8AC3E}">
        <p14:creationId xmlns:p14="http://schemas.microsoft.com/office/powerpoint/2010/main" val="4195504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45532D-6C65-A483-830B-36D6F2A44623}"/>
              </a:ext>
            </a:extLst>
          </p:cNvPr>
          <p:cNvSpPr>
            <a:spLocks noGrp="1"/>
          </p:cNvSpPr>
          <p:nvPr>
            <p:ph type="ctrTitle"/>
          </p:nvPr>
        </p:nvSpPr>
        <p:spPr>
          <a:xfrm>
            <a:off x="813412" y="428446"/>
            <a:ext cx="10565176" cy="728325"/>
          </a:xfrm>
        </p:spPr>
        <p:txBody>
          <a:bodyPr>
            <a:normAutofit/>
          </a:bodyPr>
          <a:lstStyle/>
          <a:p>
            <a:r>
              <a:rPr lang="fr-FR" sz="4500" dirty="0">
                <a:solidFill>
                  <a:schemeClr val="tx1"/>
                </a:solidFill>
              </a:rPr>
              <a:t>2. Le navigateur : interpréter, afficher, faire interagir</a:t>
            </a:r>
          </a:p>
        </p:txBody>
      </p:sp>
      <p:sp>
        <p:nvSpPr>
          <p:cNvPr id="5" name="ZoneTexte 4">
            <a:extLst>
              <a:ext uri="{FF2B5EF4-FFF2-40B4-BE49-F238E27FC236}">
                <a16:creationId xmlns:a16="http://schemas.microsoft.com/office/drawing/2014/main" id="{E356BE70-A487-D5B8-1B2B-AA7D8886B8CD}"/>
              </a:ext>
            </a:extLst>
          </p:cNvPr>
          <p:cNvSpPr txBox="1"/>
          <p:nvPr/>
        </p:nvSpPr>
        <p:spPr>
          <a:xfrm>
            <a:off x="1424848" y="1508365"/>
            <a:ext cx="9342303" cy="3046988"/>
          </a:xfrm>
          <a:prstGeom prst="rect">
            <a:avLst/>
          </a:prstGeom>
          <a:noFill/>
        </p:spPr>
        <p:txBody>
          <a:bodyPr wrap="square">
            <a:spAutoFit/>
          </a:bodyPr>
          <a:lstStyle/>
          <a:p>
            <a:pPr marL="342900" lvl="0" indent="-342900">
              <a:buFont typeface="Arial" panose="020B0604020202020204" pitchFamily="34" charset="0"/>
              <a:buChar char="•"/>
            </a:pPr>
            <a:r>
              <a:rPr lang="fr-FR" sz="3200" b="1" dirty="0"/>
              <a:t>Il demande et reçoit les ressources d’une page.</a:t>
            </a:r>
          </a:p>
          <a:p>
            <a:pPr marL="342900" lvl="0" indent="-342900">
              <a:buFont typeface="Arial" panose="020B0604020202020204" pitchFamily="34" charset="0"/>
              <a:buChar char="•"/>
            </a:pPr>
            <a:r>
              <a:rPr lang="fr-FR" sz="3200" b="1" dirty="0"/>
              <a:t>Il transforme HTML et CSS en structures qu’il peut traiter.</a:t>
            </a:r>
          </a:p>
          <a:p>
            <a:pPr marL="342900" lvl="0" indent="-342900">
              <a:buFont typeface="Arial" panose="020B0604020202020204" pitchFamily="34" charset="0"/>
              <a:buChar char="•"/>
            </a:pPr>
            <a:r>
              <a:rPr lang="fr-FR" sz="3200" b="1" dirty="0"/>
              <a:t>Il exécute le JavaScript et répond aux actions.</a:t>
            </a:r>
          </a:p>
          <a:p>
            <a:pPr marL="342900" lvl="0" indent="-342900">
              <a:buFont typeface="Arial" panose="020B0604020202020204" pitchFamily="34" charset="0"/>
              <a:buChar char="•"/>
            </a:pPr>
            <a:r>
              <a:rPr lang="fr-FR" sz="3200" b="1" dirty="0"/>
              <a:t>Chrome, Firefox, Safari et Edge suivent les standards, avec des différences d’implémentation</a:t>
            </a:r>
            <a:r>
              <a:rPr lang="fr-FR" sz="3200" b="1" dirty="0">
                <a:solidFill>
                  <a:schemeClr val="accent1">
                    <a:lumMod val="20000"/>
                    <a:lumOff val="80000"/>
                  </a:schemeClr>
                </a:solidFill>
              </a:rPr>
              <a:t>.</a:t>
            </a:r>
          </a:p>
        </p:txBody>
      </p:sp>
    </p:spTree>
    <p:extLst>
      <p:ext uri="{BB962C8B-B14F-4D97-AF65-F5344CB8AC3E}">
        <p14:creationId xmlns:p14="http://schemas.microsoft.com/office/powerpoint/2010/main" val="1608277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434191-5465-4355-BA30-48022D778B17}"/>
              </a:ext>
            </a:extLst>
          </p:cNvPr>
          <p:cNvSpPr>
            <a:spLocks noGrp="1"/>
          </p:cNvSpPr>
          <p:nvPr>
            <p:ph type="ctrTitle"/>
          </p:nvPr>
        </p:nvSpPr>
        <p:spPr>
          <a:xfrm>
            <a:off x="2152236" y="450480"/>
            <a:ext cx="8060400" cy="717308"/>
          </a:xfrm>
        </p:spPr>
        <p:txBody>
          <a:bodyPr>
            <a:normAutofit/>
          </a:bodyPr>
          <a:lstStyle/>
          <a:p>
            <a:r>
              <a:rPr lang="fr-FR" sz="4500" dirty="0">
                <a:solidFill>
                  <a:schemeClr val="tx1"/>
                </a:solidFill>
              </a:rPr>
              <a:t>3. HTML : construire l’arbre du document</a:t>
            </a:r>
          </a:p>
        </p:txBody>
      </p:sp>
      <p:sp>
        <p:nvSpPr>
          <p:cNvPr id="7" name="ZoneTexte 6">
            <a:extLst>
              <a:ext uri="{FF2B5EF4-FFF2-40B4-BE49-F238E27FC236}">
                <a16:creationId xmlns:a16="http://schemas.microsoft.com/office/drawing/2014/main" id="{377D71A8-49D7-4346-473E-F6686B0A5448}"/>
              </a:ext>
            </a:extLst>
          </p:cNvPr>
          <p:cNvSpPr txBox="1"/>
          <p:nvPr/>
        </p:nvSpPr>
        <p:spPr>
          <a:xfrm>
            <a:off x="2051112" y="1540465"/>
            <a:ext cx="8262649" cy="1200329"/>
          </a:xfrm>
          <a:prstGeom prst="rect">
            <a:avLst/>
          </a:prstGeom>
          <a:noFill/>
        </p:spPr>
        <p:txBody>
          <a:bodyPr wrap="square">
            <a:spAutoFit/>
          </a:bodyPr>
          <a:lstStyle/>
          <a:p>
            <a:pPr marL="342900" lvl="0" indent="-342900">
              <a:buFont typeface="Arial" panose="020B0604020202020204" pitchFamily="34" charset="0"/>
              <a:buChar char="•"/>
            </a:pPr>
            <a:r>
              <a:rPr lang="fr-FR" sz="2400" b="1" dirty="0"/>
              <a:t>Le navigateur analyse le HTML.</a:t>
            </a:r>
          </a:p>
          <a:p>
            <a:pPr marL="342900" lvl="0" indent="-342900">
              <a:buFont typeface="Arial" panose="020B0604020202020204" pitchFamily="34" charset="0"/>
              <a:buChar char="•"/>
            </a:pPr>
            <a:r>
              <a:rPr lang="fr-FR" sz="2400" b="1" dirty="0"/>
              <a:t>Les balises et les textes deviennent des nœuds.</a:t>
            </a:r>
          </a:p>
          <a:p>
            <a:pPr marL="342900" lvl="0" indent="-342900">
              <a:buFont typeface="Arial" panose="020B0604020202020204" pitchFamily="34" charset="0"/>
              <a:buChar char="•"/>
            </a:pPr>
            <a:r>
              <a:rPr lang="fr-FR" sz="2400" b="1" dirty="0"/>
              <a:t>Ces nœuds forment le DOM, une représentation en arbre.</a:t>
            </a:r>
          </a:p>
        </p:txBody>
      </p:sp>
      <p:pic>
        <p:nvPicPr>
          <p:cNvPr id="9" name="Graphique 8" descr="Aperçu de l’image">
            <a:extLst>
              <a:ext uri="{FF2B5EF4-FFF2-40B4-BE49-F238E27FC236}">
                <a16:creationId xmlns:a16="http://schemas.microsoft.com/office/drawing/2014/main" id="{13B96A26-1934-A21B-24DC-748A92707A6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27812" y="3113471"/>
            <a:ext cx="8736375" cy="3744529"/>
          </a:xfrm>
          <a:prstGeom prst="rect">
            <a:avLst/>
          </a:prstGeom>
        </p:spPr>
      </p:pic>
    </p:spTree>
    <p:extLst>
      <p:ext uri="{BB962C8B-B14F-4D97-AF65-F5344CB8AC3E}">
        <p14:creationId xmlns:p14="http://schemas.microsoft.com/office/powerpoint/2010/main" val="1410795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B9670A-DA7A-3F47-479B-DADEB74C655F}"/>
              </a:ext>
            </a:extLst>
          </p:cNvPr>
          <p:cNvSpPr>
            <a:spLocks noGrp="1"/>
          </p:cNvSpPr>
          <p:nvPr>
            <p:ph type="ctrTitle"/>
          </p:nvPr>
        </p:nvSpPr>
        <p:spPr>
          <a:xfrm>
            <a:off x="1478253" y="450480"/>
            <a:ext cx="9235493" cy="849511"/>
          </a:xfrm>
        </p:spPr>
        <p:txBody>
          <a:bodyPr>
            <a:normAutofit/>
          </a:bodyPr>
          <a:lstStyle/>
          <a:p>
            <a:r>
              <a:rPr lang="fr-FR" sz="4500" dirty="0">
                <a:solidFill>
                  <a:schemeClr val="tx1"/>
                </a:solidFill>
              </a:rPr>
              <a:t>4. CSS : calculer les styles et dessiner la page</a:t>
            </a:r>
          </a:p>
        </p:txBody>
      </p:sp>
      <p:pic>
        <p:nvPicPr>
          <p:cNvPr id="4" name="Graphique 3" descr="Aperçu de l’image">
            <a:extLst>
              <a:ext uri="{FF2B5EF4-FFF2-40B4-BE49-F238E27FC236}">
                <a16:creationId xmlns:a16="http://schemas.microsoft.com/office/drawing/2014/main" id="{46EBDB76-A53E-A997-66CF-8E8F3A52DF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47747" y="3885108"/>
            <a:ext cx="8696505" cy="2972892"/>
          </a:xfrm>
          <a:prstGeom prst="rect">
            <a:avLst/>
          </a:prstGeom>
        </p:spPr>
      </p:pic>
      <p:sp>
        <p:nvSpPr>
          <p:cNvPr id="6" name="ZoneTexte 5">
            <a:extLst>
              <a:ext uri="{FF2B5EF4-FFF2-40B4-BE49-F238E27FC236}">
                <a16:creationId xmlns:a16="http://schemas.microsoft.com/office/drawing/2014/main" id="{29CEBE20-AE96-BAB4-E327-2FB52D0EB046}"/>
              </a:ext>
            </a:extLst>
          </p:cNvPr>
          <p:cNvSpPr txBox="1"/>
          <p:nvPr/>
        </p:nvSpPr>
        <p:spPr>
          <a:xfrm>
            <a:off x="3044405" y="1446082"/>
            <a:ext cx="6103188" cy="2292935"/>
          </a:xfrm>
          <a:prstGeom prst="rect">
            <a:avLst/>
          </a:prstGeom>
          <a:noFill/>
        </p:spPr>
        <p:txBody>
          <a:bodyPr wrap="square">
            <a:spAutoFit/>
          </a:bodyPr>
          <a:lstStyle/>
          <a:p>
            <a:pPr rtl="0">
              <a:buNone/>
            </a:pPr>
            <a:endParaRPr lang="fr-FR" i="1" dirty="0">
              <a:latin typeface="+mn-lt"/>
            </a:endParaRPr>
          </a:p>
          <a:p>
            <a:pPr marL="342900" lvl="0" indent="-342900">
              <a:buFont typeface="Arial" panose="020B0604020202020204" pitchFamily="34" charset="0"/>
              <a:buChar char="•"/>
            </a:pPr>
            <a:r>
              <a:rPr lang="fr-FR" sz="2500" b="1" dirty="0"/>
              <a:t>Le navigateur analyse les règles CSS.</a:t>
            </a:r>
          </a:p>
          <a:p>
            <a:pPr marL="342900" lvl="0" indent="-342900">
              <a:buFont typeface="Arial" panose="020B0604020202020204" pitchFamily="34" charset="0"/>
              <a:buChar char="•"/>
            </a:pPr>
            <a:r>
              <a:rPr lang="fr-FR" sz="2500" b="1" dirty="0"/>
              <a:t>Il calcule les styles applicables aux éléments du DOM.</a:t>
            </a:r>
          </a:p>
          <a:p>
            <a:pPr marL="342900" lvl="0" indent="-342900">
              <a:buFont typeface="Arial" panose="020B0604020202020204" pitchFamily="34" charset="0"/>
              <a:buChar char="•"/>
            </a:pPr>
            <a:r>
              <a:rPr lang="fr-FR" sz="2500" b="1" dirty="0"/>
              <a:t>Il calcule leur taille et leur position, puis peint les pixels à l’écran.</a:t>
            </a:r>
          </a:p>
        </p:txBody>
      </p:sp>
    </p:spTree>
    <p:extLst>
      <p:ext uri="{BB962C8B-B14F-4D97-AF65-F5344CB8AC3E}">
        <p14:creationId xmlns:p14="http://schemas.microsoft.com/office/powerpoint/2010/main" val="2673054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D6A01D-E113-ED0B-0E56-5458C24C6F61}"/>
              </a:ext>
            </a:extLst>
          </p:cNvPr>
          <p:cNvSpPr>
            <a:spLocks noGrp="1"/>
          </p:cNvSpPr>
          <p:nvPr>
            <p:ph type="ctrTitle"/>
          </p:nvPr>
        </p:nvSpPr>
        <p:spPr>
          <a:xfrm>
            <a:off x="2021634" y="340311"/>
            <a:ext cx="8148731" cy="750359"/>
          </a:xfrm>
        </p:spPr>
        <p:txBody>
          <a:bodyPr>
            <a:normAutofit/>
          </a:bodyPr>
          <a:lstStyle/>
          <a:p>
            <a:r>
              <a:rPr lang="fr-FR" sz="4500" dirty="0"/>
              <a:t>5. JavaScript : rendre la page interactive</a:t>
            </a:r>
          </a:p>
        </p:txBody>
      </p:sp>
      <p:sp>
        <p:nvSpPr>
          <p:cNvPr id="5" name="ZoneTexte 4">
            <a:extLst>
              <a:ext uri="{FF2B5EF4-FFF2-40B4-BE49-F238E27FC236}">
                <a16:creationId xmlns:a16="http://schemas.microsoft.com/office/drawing/2014/main" id="{7EFA3211-8749-C9B1-47A2-C501967F8F2C}"/>
              </a:ext>
            </a:extLst>
          </p:cNvPr>
          <p:cNvSpPr txBox="1"/>
          <p:nvPr/>
        </p:nvSpPr>
        <p:spPr>
          <a:xfrm>
            <a:off x="2021634" y="1659285"/>
            <a:ext cx="7904564" cy="3046988"/>
          </a:xfrm>
          <a:prstGeom prst="rect">
            <a:avLst/>
          </a:prstGeom>
          <a:noFill/>
        </p:spPr>
        <p:txBody>
          <a:bodyPr wrap="square">
            <a:spAutoFit/>
          </a:bodyPr>
          <a:lstStyle/>
          <a:p>
            <a:pPr marL="342900" lvl="0" indent="-342900">
              <a:buFont typeface="Arial" panose="020B0604020202020204" pitchFamily="34" charset="0"/>
              <a:buChar char="•"/>
            </a:pPr>
            <a:r>
              <a:rPr lang="fr-FR" sz="3200" dirty="0"/>
              <a:t>Le navigateur analyse et exécute le script.</a:t>
            </a:r>
          </a:p>
          <a:p>
            <a:pPr marL="342900" lvl="0" indent="-342900">
              <a:buFont typeface="Arial" panose="020B0604020202020204" pitchFamily="34" charset="0"/>
              <a:buChar char="•"/>
            </a:pPr>
            <a:r>
              <a:rPr lang="fr-FR" sz="3200" dirty="0"/>
              <a:t>Le script peut modifier le DOM ou les styles.</a:t>
            </a:r>
          </a:p>
          <a:p>
            <a:pPr marL="342900" lvl="0" indent="-342900">
              <a:buFont typeface="Arial" panose="020B0604020202020204" pitchFamily="34" charset="0"/>
              <a:buChar char="•"/>
            </a:pPr>
            <a:r>
              <a:rPr lang="fr-FR" sz="3200" dirty="0"/>
              <a:t>Ces changements peuvent déclencher une nouvelle mise en page ou un nouveau dessin.</a:t>
            </a:r>
          </a:p>
        </p:txBody>
      </p:sp>
    </p:spTree>
    <p:extLst>
      <p:ext uri="{BB962C8B-B14F-4D97-AF65-F5344CB8AC3E}">
        <p14:creationId xmlns:p14="http://schemas.microsoft.com/office/powerpoint/2010/main" val="1033609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8056D4-B735-9A94-526F-F64E388550AB}"/>
              </a:ext>
            </a:extLst>
          </p:cNvPr>
          <p:cNvSpPr>
            <a:spLocks noGrp="1"/>
          </p:cNvSpPr>
          <p:nvPr>
            <p:ph type="ctrTitle"/>
          </p:nvPr>
        </p:nvSpPr>
        <p:spPr>
          <a:xfrm>
            <a:off x="3689088" y="469623"/>
            <a:ext cx="4813820" cy="1235101"/>
          </a:xfrm>
        </p:spPr>
        <p:txBody>
          <a:bodyPr/>
          <a:lstStyle/>
          <a:p>
            <a:r>
              <a:rPr lang="fr-FR" dirty="0"/>
              <a:t>Conclusion</a:t>
            </a:r>
          </a:p>
        </p:txBody>
      </p:sp>
      <p:sp>
        <p:nvSpPr>
          <p:cNvPr id="5" name="ZoneTexte 4">
            <a:extLst>
              <a:ext uri="{FF2B5EF4-FFF2-40B4-BE49-F238E27FC236}">
                <a16:creationId xmlns:a16="http://schemas.microsoft.com/office/drawing/2014/main" id="{A62A380F-DF2F-B44B-C2C0-FB5CD3B1BE6D}"/>
              </a:ext>
            </a:extLst>
          </p:cNvPr>
          <p:cNvSpPr txBox="1"/>
          <p:nvPr/>
        </p:nvSpPr>
        <p:spPr>
          <a:xfrm>
            <a:off x="1417502" y="1875456"/>
            <a:ext cx="9356993" cy="3277820"/>
          </a:xfrm>
          <a:prstGeom prst="rect">
            <a:avLst/>
          </a:prstGeom>
          <a:noFill/>
        </p:spPr>
        <p:txBody>
          <a:bodyPr wrap="square">
            <a:spAutoFit/>
          </a:bodyPr>
          <a:lstStyle/>
          <a:p>
            <a:pPr>
              <a:buNone/>
            </a:pPr>
            <a:r>
              <a:rPr lang="fr-FR" sz="2300" dirty="0"/>
              <a:t>Le navigateur transforme le code en une page que l’on peut voir et utiliser. Il analyse le HTML pour construire le DOM, applique les règles CSS pour calculer l’apparence et exécute le JavaScript pour ajouter des interactions ou modifier la page. Ces étapes peuvent se chevaucher et recommencer lorsqu’un changement intervient.</a:t>
            </a:r>
          </a:p>
          <a:p>
            <a:pPr>
              <a:buNone/>
            </a:pPr>
            <a:r>
              <a:rPr lang="fr-FR" sz="2300" dirty="0"/>
              <a:t>Avec les </a:t>
            </a:r>
            <a:r>
              <a:rPr lang="fr-FR" sz="2300" dirty="0" err="1"/>
              <a:t>DevTools</a:t>
            </a:r>
            <a:r>
              <a:rPr lang="fr-FR" sz="2300" dirty="0"/>
              <a:t>, on peut observer ce travail directement : inspecter les éléments, tester des styles et exécuter du JavaScript. Comprendre ces outils aide à mieux créer des pages web et à trouver l’origine d’un problème d’affichage.</a:t>
            </a:r>
          </a:p>
        </p:txBody>
      </p:sp>
    </p:spTree>
    <p:extLst>
      <p:ext uri="{BB962C8B-B14F-4D97-AF65-F5344CB8AC3E}">
        <p14:creationId xmlns:p14="http://schemas.microsoft.com/office/powerpoint/2010/main" val="43481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28851F-FE25-6FB8-683A-539709F1DBB8}"/>
              </a:ext>
            </a:extLst>
          </p:cNvPr>
          <p:cNvSpPr>
            <a:spLocks noGrp="1"/>
          </p:cNvSpPr>
          <p:nvPr>
            <p:ph type="ctrTitle"/>
          </p:nvPr>
        </p:nvSpPr>
        <p:spPr>
          <a:xfrm>
            <a:off x="4795228" y="226949"/>
            <a:ext cx="2601543" cy="1364383"/>
          </a:xfrm>
        </p:spPr>
        <p:txBody>
          <a:bodyPr>
            <a:normAutofit/>
          </a:bodyPr>
          <a:lstStyle/>
          <a:p>
            <a:r>
              <a:rPr lang="fr-FR" sz="10000" dirty="0"/>
              <a:t>DEMO</a:t>
            </a:r>
          </a:p>
        </p:txBody>
      </p:sp>
      <p:sp>
        <p:nvSpPr>
          <p:cNvPr id="5" name="ZoneTexte 4">
            <a:extLst>
              <a:ext uri="{FF2B5EF4-FFF2-40B4-BE49-F238E27FC236}">
                <a16:creationId xmlns:a16="http://schemas.microsoft.com/office/drawing/2014/main" id="{F89C7B8D-66D1-DF51-21A3-1A8CE4D78482}"/>
              </a:ext>
            </a:extLst>
          </p:cNvPr>
          <p:cNvSpPr txBox="1"/>
          <p:nvPr/>
        </p:nvSpPr>
        <p:spPr>
          <a:xfrm>
            <a:off x="2510010" y="1826690"/>
            <a:ext cx="7171980" cy="3046988"/>
          </a:xfrm>
          <a:prstGeom prst="rect">
            <a:avLst/>
          </a:prstGeom>
          <a:noFill/>
        </p:spPr>
        <p:txBody>
          <a:bodyPr wrap="square">
            <a:spAutoFit/>
          </a:bodyPr>
          <a:lstStyle/>
          <a:p>
            <a:pPr marL="342900" lvl="0" indent="-342900">
              <a:buFont typeface="Arial" panose="020B0604020202020204" pitchFamily="34" charset="0"/>
              <a:buChar char="•"/>
            </a:pPr>
            <a:r>
              <a:rPr lang="fr-FR" sz="2400" dirty="0"/>
              <a:t>Ouvrir les </a:t>
            </a:r>
            <a:r>
              <a:rPr lang="fr-FR" sz="2400" dirty="0" err="1"/>
              <a:t>DevTools</a:t>
            </a:r>
            <a:r>
              <a:rPr lang="fr-FR" sz="2400" dirty="0"/>
              <a:t> avec </a:t>
            </a:r>
            <a:r>
              <a:rPr lang="fr-FR" sz="2400" b="1" dirty="0"/>
              <a:t>F12</a:t>
            </a:r>
            <a:r>
              <a:rPr lang="fr-FR" sz="2400" dirty="0"/>
              <a:t> ou </a:t>
            </a:r>
            <a:r>
              <a:rPr lang="fr-FR" sz="2400" b="1" dirty="0"/>
              <a:t>Ctrl + Maj + I</a:t>
            </a:r>
            <a:r>
              <a:rPr lang="fr-FR" sz="2400" dirty="0"/>
              <a:t>.</a:t>
            </a:r>
          </a:p>
          <a:p>
            <a:pPr marL="342900" lvl="0" indent="-342900">
              <a:buFont typeface="Arial" panose="020B0604020202020204" pitchFamily="34" charset="0"/>
              <a:buChar char="•"/>
            </a:pPr>
            <a:r>
              <a:rPr lang="fr-FR" sz="2400" dirty="0"/>
              <a:t>Dans </a:t>
            </a:r>
            <a:r>
              <a:rPr lang="fr-FR" sz="2400" b="1" dirty="0" err="1"/>
              <a:t>Elements</a:t>
            </a:r>
            <a:r>
              <a:rPr lang="fr-FR" sz="2400" dirty="0"/>
              <a:t>, sélectionner le titre et modifier son texte.</a:t>
            </a:r>
          </a:p>
          <a:p>
            <a:pPr marL="342900" lvl="0" indent="-342900">
              <a:buFont typeface="Arial" panose="020B0604020202020204" pitchFamily="34" charset="0"/>
              <a:buChar char="•"/>
            </a:pPr>
            <a:r>
              <a:rPr lang="fr-FR" sz="2400" dirty="0"/>
              <a:t>Dans </a:t>
            </a:r>
            <a:r>
              <a:rPr lang="fr-FR" sz="2400" b="1" dirty="0"/>
              <a:t>Styles</a:t>
            </a:r>
            <a:r>
              <a:rPr lang="fr-FR" sz="2400" dirty="0"/>
              <a:t>, décocher une règle CSS puis changer une couleur.</a:t>
            </a:r>
          </a:p>
          <a:p>
            <a:pPr marL="342900" lvl="0" indent="-342900">
              <a:buFont typeface="Arial" panose="020B0604020202020204" pitchFamily="34" charset="0"/>
              <a:buChar char="•"/>
            </a:pPr>
            <a:r>
              <a:rPr lang="fr-FR" sz="2400" dirty="0"/>
              <a:t>Dans </a:t>
            </a:r>
            <a:r>
              <a:rPr lang="fr-FR" sz="2400" b="1" dirty="0"/>
              <a:t>Console</a:t>
            </a:r>
            <a:r>
              <a:rPr lang="fr-FR" sz="2400" dirty="0"/>
              <a:t>, saisir :</a:t>
            </a:r>
            <a:br>
              <a:rPr lang="fr-FR" sz="2400" dirty="0"/>
            </a:br>
            <a:r>
              <a:rPr lang="fr-FR" sz="2400" dirty="0" err="1">
                <a:latin typeface="+mn-lt"/>
              </a:rPr>
              <a:t>document.querySelector</a:t>
            </a:r>
            <a:r>
              <a:rPr lang="fr-FR" sz="2400" dirty="0">
                <a:latin typeface="+mn-lt"/>
              </a:rPr>
              <a:t>("h1").</a:t>
            </a:r>
            <a:r>
              <a:rPr lang="fr-FR" sz="2400" dirty="0" err="1">
                <a:latin typeface="+mn-lt"/>
              </a:rPr>
              <a:t>textContent</a:t>
            </a:r>
            <a:endParaRPr lang="fr-FR" sz="2400" dirty="0"/>
          </a:p>
          <a:p>
            <a:pPr marL="342900" lvl="0" indent="-342900">
              <a:buFont typeface="Arial" panose="020B0604020202020204" pitchFamily="34" charset="0"/>
              <a:buChar char="•"/>
            </a:pPr>
            <a:r>
              <a:rPr lang="fr-FR" sz="2400" dirty="0"/>
              <a:t>Montrer la modification immédiate dans la page.</a:t>
            </a:r>
          </a:p>
        </p:txBody>
      </p:sp>
    </p:spTree>
    <p:extLst>
      <p:ext uri="{BB962C8B-B14F-4D97-AF65-F5344CB8AC3E}">
        <p14:creationId xmlns:p14="http://schemas.microsoft.com/office/powerpoint/2010/main" val="483286348"/>
      </p:ext>
    </p:extLst>
  </p:cSld>
  <p:clrMapOvr>
    <a:masterClrMapping/>
  </p:clrMapOvr>
</p:sld>
</file>

<file path=ppt/theme/theme1.xml><?xml version="1.0" encoding="utf-8"?>
<a:theme xmlns:a="http://schemas.openxmlformats.org/drawingml/2006/main" name="Éditorial">
  <a:themeElements>
    <a:clrScheme name="É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71EC1670-473B-4381-BA1C-B02CC96DD716}" vid="{C5D3EF77-ADD0-40FD-A769-C339DAE739D1}"/>
    </a:ext>
  </a:extLst>
</a:theme>
</file>

<file path=docProps/app.xml><?xml version="1.0" encoding="utf-8"?>
<Properties xmlns="http://schemas.openxmlformats.org/officeDocument/2006/extended-properties" xmlns:vt="http://schemas.openxmlformats.org/officeDocument/2006/docPropsVTypes">
  <Template>Editorial</Template>
  <TotalTime>2176</TotalTime>
  <Words>379</Words>
  <Application>Microsoft Office PowerPoint</Application>
  <PresentationFormat>Grand écran</PresentationFormat>
  <Paragraphs>33</Paragraphs>
  <Slides>8</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8</vt:i4>
      </vt:variant>
    </vt:vector>
  </HeadingPairs>
  <TitlesOfParts>
    <vt:vector size="13" baseType="lpstr">
      <vt:lpstr>Aptos</vt:lpstr>
      <vt:lpstr>Arial</vt:lpstr>
      <vt:lpstr>Haettenschweiler</vt:lpstr>
      <vt:lpstr>Trade Gothic Next Light</vt:lpstr>
      <vt:lpstr>Éditorial</vt:lpstr>
      <vt:lpstr>Veille: Comment les navigateurs affichent les pages web (rendu HTML, CSS, JS).</vt:lpstr>
      <vt:lpstr>1. Comment le navigateur affiche une page web</vt:lpstr>
      <vt:lpstr>2. Le navigateur : interpréter, afficher, faire interagir</vt:lpstr>
      <vt:lpstr>3. HTML : construire l’arbre du document</vt:lpstr>
      <vt:lpstr>4. CSS : calculer les styles et dessiner la page</vt:lpstr>
      <vt:lpstr>5. JavaScript : rendre la page interactive</vt:lpstr>
      <vt:lpstr>Conclusion</vt:lpstr>
      <vt:lpstr>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pauly mwayumba</dc:creator>
  <cp:lastModifiedBy>pauly mwayumba</cp:lastModifiedBy>
  <cp:revision>2</cp:revision>
  <dcterms:created xsi:type="dcterms:W3CDTF">2026-10-21T11:29:33Z</dcterms:created>
  <dcterms:modified xsi:type="dcterms:W3CDTF">2026-10-22T23:45:40Z</dcterms:modified>
</cp:coreProperties>
</file>